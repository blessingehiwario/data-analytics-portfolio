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18" r:id="rId1"/>
  </p:sldMasterIdLst>
  <p:notesMasterIdLst>
    <p:notesMasterId r:id="rId9"/>
  </p:notesMasterIdLst>
  <p:handoutMasterIdLst>
    <p:handoutMasterId r:id="rId10"/>
  </p:handoutMasterIdLst>
  <p:sldIdLst>
    <p:sldId id="1586" r:id="rId2"/>
    <p:sldId id="941" r:id="rId3"/>
    <p:sldId id="1578" r:id="rId4"/>
    <p:sldId id="1582" r:id="rId5"/>
    <p:sldId id="1583" r:id="rId6"/>
    <p:sldId id="1581" r:id="rId7"/>
    <p:sldId id="1584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FC82C5-624F-4D62-811D-8689C48871D9}">
          <p14:sldIdLst>
            <p14:sldId id="1586"/>
            <p14:sldId id="941"/>
            <p14:sldId id="1578"/>
            <p14:sldId id="1582"/>
            <p14:sldId id="1583"/>
            <p14:sldId id="1581"/>
            <p14:sldId id="15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aromade Labeodan (NG)" initials="OL(" lastIdx="42" clrIdx="0">
    <p:extLst>
      <p:ext uri="{19B8F6BF-5375-455C-9EA6-DF929625EA0E}">
        <p15:presenceInfo xmlns:p15="http://schemas.microsoft.com/office/powerpoint/2012/main" userId="S::olaromadeo.labeodan@pwc.com::4278693e-db10-4453-a7f0-fb293c77d2ae" providerId="AD"/>
      </p:ext>
    </p:extLst>
  </p:cmAuthor>
  <p:cmAuthor id="2" name="Tosin Kanoba (NG)" initials="TK(" lastIdx="85" clrIdx="1">
    <p:extLst>
      <p:ext uri="{19B8F6BF-5375-455C-9EA6-DF929625EA0E}">
        <p15:presenceInfo xmlns:p15="http://schemas.microsoft.com/office/powerpoint/2012/main" userId="S::Tosin.Kanoba@pwc.com::4de0c57d-582e-474d-9ece-b3b4dd70520d" providerId="AD"/>
      </p:ext>
    </p:extLst>
  </p:cmAuthor>
  <p:cmAuthor id="3" name="Daniel Edheredino (NG)" initials="DE(" lastIdx="21" clrIdx="2">
    <p:extLst>
      <p:ext uri="{19B8F6BF-5375-455C-9EA6-DF929625EA0E}">
        <p15:presenceInfo xmlns:p15="http://schemas.microsoft.com/office/powerpoint/2012/main" userId="S::daniel.edheredino@pwc.com::63107516-04fd-4928-ad53-97ba46137d80" providerId="AD"/>
      </p:ext>
    </p:extLst>
  </p:cmAuthor>
  <p:cmAuthor id="4" name="Olusola Adewole (NG)" initials="OA(" lastIdx="26" clrIdx="3">
    <p:extLst>
      <p:ext uri="{19B8F6BF-5375-455C-9EA6-DF929625EA0E}">
        <p15:presenceInfo xmlns:p15="http://schemas.microsoft.com/office/powerpoint/2012/main" userId="S::olusola.adewole@pwc.com::21f1de23-983d-4a2a-9495-4b20126b3e98" providerId="AD"/>
      </p:ext>
    </p:extLst>
  </p:cmAuthor>
  <p:cmAuthor id="5" name="Odinakachukwu Nwoye (NG)" initials="ON(" lastIdx="1" clrIdx="4">
    <p:extLst>
      <p:ext uri="{19B8F6BF-5375-455C-9EA6-DF929625EA0E}">
        <p15:presenceInfo xmlns:p15="http://schemas.microsoft.com/office/powerpoint/2012/main" userId="S::odi.nwoye@pwc.com::bf9d7159-eb47-48ce-ae3c-b3e0718af8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0FAD"/>
    <a:srgbClr val="92D050"/>
    <a:srgbClr val="FFB600"/>
    <a:srgbClr val="D04A02"/>
    <a:srgbClr val="FFE5CB"/>
    <a:srgbClr val="70180F"/>
    <a:srgbClr val="F2F2F2"/>
    <a:srgbClr val="7A1818"/>
    <a:srgbClr val="7F7F7F"/>
    <a:srgbClr val="FF9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32" autoAdjust="0"/>
    <p:restoredTop sz="93792" autoAdjust="0"/>
  </p:normalViewPr>
  <p:slideViewPr>
    <p:cSldViewPr snapToGrid="0" snapToObjects="1" showGuides="1">
      <p:cViewPr varScale="1">
        <p:scale>
          <a:sx n="72" d="100"/>
          <a:sy n="72" d="100"/>
        </p:scale>
        <p:origin x="42" y="6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71" d="100"/>
          <a:sy n="171" d="100"/>
        </p:scale>
        <p:origin x="6552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A09DDA-0787-4B42-881F-6B3C23931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1845B-8C18-C246-A0D1-61FFD19631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01B5-88AD-1849-891D-EA2905EB5A88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5FE6D-CCE1-E44E-89A4-77460EF6CC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6315B-F8F9-5649-8DCB-C363E729D5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602F4-4C0C-5F4F-8771-7E15167AE5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455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0AB23-24A6-494C-BA00-B87242B78CB4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A530D-631F-4981-98F0-E6C07C67E1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7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9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607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22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321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A530D-631F-4981-98F0-E6C07C67E1A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06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1B5A-B311-8350-5066-93E6BC447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71B9E-AFF3-D675-E22D-FF680935B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0B0B8-F7A3-D1DD-6CE9-EDA23064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507EA-DC5B-F17F-01D5-C3DCCC9B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ECC49-A321-2F0A-CF7A-C0537E29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48987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D3A5-D750-A53B-4F49-63E2B6E8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DD1EB-5446-F168-0F2E-740EE25E8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1B4A7-130E-EEAA-4802-995FB84A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55959-80F0-F13D-8FC2-019F0512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C824-F6AA-063C-91C8-475B10D0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3275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3C2B-2438-D978-1EAD-59785D97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4BDEB-1080-C8A9-3AE6-8A295CCC8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288DE-935B-9454-5C16-033D3860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6EAD-521E-5886-2895-4043AAA1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9AE7D-8868-FBB3-7B0D-898D645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75891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9201-F12D-B842-3FDD-4F02F12F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0D29-4E3F-7E6F-95B7-735CA5322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45E71-A1D7-0EB0-9693-0B12CA8C1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20837-AA70-8AC6-3777-D6F3ACCF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DE6AB-3D09-D53D-0986-2367B2FF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ECABA-1A77-6210-BC1C-8D05B0C7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1506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598F-DC45-F44D-779B-80D4468F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C682C-5F51-ED05-4413-6514C0116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986DD-8FEF-96BC-6CED-24813845D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DB53A-6DB2-2916-83FF-4CFE60C56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F1F02-ADD4-579D-1A5F-1513193A9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16DF58-41D5-DCB8-B2AA-4ECF5D8F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F3BDA-0CF6-A2D1-F9D8-1B65ED79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03E1A-F669-16BB-5E8F-F85AC84C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7043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89DC-7003-6C8F-32B9-EC4EF7AE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58013-2CB3-FDE8-5E45-9943042C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91169-D1F5-95DB-6357-8460F7A3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183B9-20FA-E1AC-2FE6-0415C3A3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712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5330D-DD61-A0BF-3614-3C9F89DD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23A7A-6EBE-604C-6D17-91D688B5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08002-1277-9A5D-83AF-E66335CE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507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7A69-D62C-5850-4137-912F96DC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640E-7EA7-894C-7AAD-9C45D1FE2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B040D-DCD1-3EA0-65BE-A76C28761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A8672-7DEA-7852-811C-069E1B63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1D4CE-97A5-46E4-3D40-A71218F0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460C-62FD-6D43-AD9B-9596130F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798874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892DC-A61A-0509-5398-EE5ABD05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06718-A251-024F-58F7-9870C3221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CA480-0476-BD11-C8CA-94AB6F2EA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C7EB6-5A8D-93E9-CB7C-BFEB661F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655A1-E2E2-BAF0-98EC-54F68D33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C290D-7810-D203-9CEC-D97EE302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0089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ACD5-71FA-0FFA-5E72-4D08FE7D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B31BE-18F8-270A-C76D-E81508681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D08DA-A158-4422-FE57-2B1CB761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351D-CE38-95B2-923F-0E32DA9C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E6A8F-6F3F-DB45-9A4E-E55B539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1195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D3EFA-553F-8513-7EF6-1A3D261FC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3EBDB-FFE6-F97C-2406-1389FE641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CE20E-84EE-7C9B-3B03-6EDFEC56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162D-569E-47C4-907C-222855EF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E9273-7472-5D45-DFB0-1628806B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62824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Divider">
  <p:cSld name="2_Section Divi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8E8C3790-9BB8-C2B8-8DE9-B99B51EE5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750" smtClean="0"/>
            </a:lvl1pPr>
          </a:lstStyle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0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2F521-23C0-B609-0B0E-F102FDDF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D32BE-43D0-06D3-1213-16CD4E1EA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A9A53-3D42-8360-D2A7-6CF4B49B8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CA"/>
              <a:t>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53911-DEC2-4606-8898-8DDEA43D0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4AF7B-1D2A-ECE4-010C-570E48702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B4CD3-C723-42E6-A0F0-D638A5016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9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pos="3953" userDrawn="1">
          <p15:clr>
            <a:srgbClr val="F26B43"/>
          </p15:clr>
        </p15:guide>
        <p15:guide id="5" pos="3727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726" userDrawn="1">
          <p15:clr>
            <a:srgbClr val="F26B43"/>
          </p15:clr>
        </p15:guide>
        <p15:guide id="8" pos="2502" userDrawn="1">
          <p15:clr>
            <a:srgbClr val="F26B43"/>
          </p15:clr>
        </p15:guide>
        <p15:guide id="9" pos="4952" userDrawn="1">
          <p15:clr>
            <a:srgbClr val="F26B43"/>
          </p15:clr>
        </p15:guide>
        <p15:guide id="10" pos="5177" userDrawn="1">
          <p15:clr>
            <a:srgbClr val="F26B43"/>
          </p15:clr>
        </p15:guide>
        <p15:guide id="11" orient="horz" pos="2160" userDrawn="1">
          <p15:clr>
            <a:srgbClr val="F26B43"/>
          </p15:clr>
        </p15:guide>
        <p15:guide id="12" orient="horz" pos="1325" userDrawn="1">
          <p15:clr>
            <a:srgbClr val="F26B43"/>
          </p15:clr>
        </p15:guide>
        <p15:guide id="13" orient="horz" pos="1146" userDrawn="1">
          <p15:clr>
            <a:srgbClr val="F26B43"/>
          </p15:clr>
        </p15:guide>
        <p15:guide id="14" orient="horz" pos="2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C86B46-4007-4D15-8B0E-44B0DE5DF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26B4CD3-C723-42E6-A0F0-D638A5016A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B1A2A-FF7A-4F1D-8803-8171FA14241D}"/>
              </a:ext>
            </a:extLst>
          </p:cNvPr>
          <p:cNvSpPr txBox="1"/>
          <p:nvPr/>
        </p:nvSpPr>
        <p:spPr>
          <a:xfrm>
            <a:off x="715371" y="2598003"/>
            <a:ext cx="41330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3600" b="1" dirty="0">
                <a:solidFill>
                  <a:schemeClr val="bg1"/>
                </a:solidFill>
              </a:rPr>
              <a:t>Executive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0C40F-F07C-4C68-836D-D5B5C2DD9AAA}"/>
              </a:ext>
            </a:extLst>
          </p:cNvPr>
          <p:cNvSpPr txBox="1"/>
          <p:nvPr/>
        </p:nvSpPr>
        <p:spPr>
          <a:xfrm>
            <a:off x="715372" y="3585484"/>
            <a:ext cx="9268924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800" b="1" dirty="0">
                <a:solidFill>
                  <a:schemeClr val="bg1"/>
                </a:solidFill>
              </a:rPr>
              <a:t>This dashboard analyzes product sales performance using quantity sold and purchase frequency across 394 products. The analysis identifies top-performing products, category contribution, and customer purchase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D3510-F5C1-1AAD-DC66-4A60DAFBB09B}"/>
              </a:ext>
            </a:extLst>
          </p:cNvPr>
          <p:cNvSpPr txBox="1"/>
          <p:nvPr/>
        </p:nvSpPr>
        <p:spPr>
          <a:xfrm>
            <a:off x="589722" y="740322"/>
            <a:ext cx="10687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9" marR="4608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Georgia"/>
                <a:cs typeface="Georgia"/>
                <a:sym typeface="Georgia"/>
              </a:rPr>
              <a:t>Retail Sales Performance Analysis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9F3D-07B2-CB7C-FD02-EFBECE34ED48}"/>
              </a:ext>
            </a:extLst>
          </p:cNvPr>
          <p:cNvSpPr txBox="1"/>
          <p:nvPr/>
        </p:nvSpPr>
        <p:spPr>
          <a:xfrm>
            <a:off x="589722" y="128314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9" marR="4608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+mj-lt"/>
                <a:ea typeface="Georgia"/>
                <a:cs typeface="Georgia"/>
                <a:sym typeface="Georgia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67929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28B5-2CB7-4AB9-9A55-140669A3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"/>
            <a:ext cx="11306175" cy="71669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310FAD"/>
                </a:solidFill>
              </a:rPr>
              <a:t>Report Overview- Dashboard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9E98B-53DB-4D1F-BD46-87E2BFEA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CF9D-0E07-496A-8CD7-EC74352B8FF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73E20-09DF-FD75-C641-525DBCDCC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33" y="636533"/>
            <a:ext cx="10486734" cy="57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4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28B5-2CB7-4AB9-9A55-140669A3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08" y="316382"/>
            <a:ext cx="10864157" cy="383017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800" b="1" dirty="0">
                <a:solidFill>
                  <a:srgbClr val="000000"/>
                </a:solidFill>
                <a:latin typeface="Arial"/>
              </a:rPr>
              <a:t>Top Products by Quantity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2AC92A-60DC-F391-38D0-7905063212E4}"/>
              </a:ext>
            </a:extLst>
          </p:cNvPr>
          <p:cNvGrpSpPr/>
          <p:nvPr/>
        </p:nvGrpSpPr>
        <p:grpSpPr>
          <a:xfrm>
            <a:off x="8637006" y="1013988"/>
            <a:ext cx="3177766" cy="3785650"/>
            <a:chOff x="8637006" y="1013988"/>
            <a:chExt cx="3177766" cy="37856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07B411-1F8F-35BA-B164-0B5E6D699BDF}"/>
                </a:ext>
              </a:extLst>
            </p:cNvPr>
            <p:cNvSpPr txBox="1"/>
            <p:nvPr/>
          </p:nvSpPr>
          <p:spPr>
            <a:xfrm>
              <a:off x="8637006" y="1013988"/>
              <a:ext cx="3177766" cy="24622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600"/>
                </a:spcAft>
                <a:buSzPct val="100000"/>
              </a:pPr>
              <a:r>
                <a:rPr lang="en-CA" sz="1600" b="1" dirty="0">
                  <a:solidFill>
                    <a:schemeClr val="bg1"/>
                  </a:solidFill>
                </a:rPr>
                <a:t>Key Insights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CF6421-A1FD-A0B7-0392-40BF68C398E3}"/>
                </a:ext>
              </a:extLst>
            </p:cNvPr>
            <p:cNvSpPr txBox="1"/>
            <p:nvPr/>
          </p:nvSpPr>
          <p:spPr>
            <a:xfrm>
              <a:off x="8637006" y="1260208"/>
              <a:ext cx="3117672" cy="353943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/>
                <a:t>La Sien Premium Water 75CL recorded the highest quantity sold (6.8K units).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 err="1"/>
                <a:t>Puffpuff</a:t>
              </a:r>
              <a:r>
                <a:rPr lang="en-US" sz="2000" dirty="0"/>
                <a:t> and Family Bread are also among the strongest-selling products.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/>
                <a:t>Bakery and beverage products dominate overall sales volume.</a:t>
              </a:r>
              <a:endParaRPr lang="en-CA" sz="20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01B0C0C-BF76-0AC8-F203-80A9F359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02" y="931960"/>
            <a:ext cx="7812959" cy="442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2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28B5-2CB7-4AB9-9A55-140669A3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08" y="316382"/>
            <a:ext cx="10864157" cy="383017"/>
          </a:xfrm>
        </p:spPr>
        <p:txBody>
          <a:bodyPr>
            <a:noAutofit/>
          </a:bodyPr>
          <a:lstStyle/>
          <a:p>
            <a:r>
              <a:rPr lang="en-US" sz="2800" b="1" dirty="0"/>
              <a:t>⁠Top Products by Frequency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9E98B-53DB-4D1F-BD46-87E2BFEA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CF9D-0E07-496A-8CD7-EC74352B8FF2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9832A5-F247-17B6-CBE9-0232BD113ACA}"/>
              </a:ext>
            </a:extLst>
          </p:cNvPr>
          <p:cNvGrpSpPr/>
          <p:nvPr/>
        </p:nvGrpSpPr>
        <p:grpSpPr>
          <a:xfrm>
            <a:off x="8637006" y="1013988"/>
            <a:ext cx="3177766" cy="3785651"/>
            <a:chOff x="8637006" y="1013988"/>
            <a:chExt cx="3177766" cy="37856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8D867E-8609-7C2D-1AF2-A85365946BB5}"/>
                </a:ext>
              </a:extLst>
            </p:cNvPr>
            <p:cNvSpPr txBox="1"/>
            <p:nvPr/>
          </p:nvSpPr>
          <p:spPr>
            <a:xfrm>
              <a:off x="8637006" y="1013988"/>
              <a:ext cx="3177766" cy="24622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600"/>
                </a:spcAft>
                <a:buSzPct val="100000"/>
              </a:pPr>
              <a:r>
                <a:rPr lang="en-CA" sz="1600" b="1" dirty="0">
                  <a:solidFill>
                    <a:schemeClr val="bg1"/>
                  </a:solidFill>
                </a:rPr>
                <a:t>Key Insights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332A64-E57B-3DEB-A5D5-8E14C83F928C}"/>
                </a:ext>
              </a:extLst>
            </p:cNvPr>
            <p:cNvSpPr txBox="1"/>
            <p:nvPr/>
          </p:nvSpPr>
          <p:spPr>
            <a:xfrm>
              <a:off x="8637006" y="1260209"/>
              <a:ext cx="3177766" cy="353943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/>
                <a:t>Family Bread was purchased most frequently (3,839 times).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/>
                <a:t>Water products appear repeatedly among top-performing items, showing strong customer demand.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sz="2000" dirty="0"/>
                <a:t>Essential everyday products generate more repeat purchases.</a:t>
              </a:r>
              <a:endParaRPr lang="en-CA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5EE0B6E-CC06-E183-A8BF-1920AC26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58" y="787853"/>
            <a:ext cx="8226496" cy="475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0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28B5-2CB7-4AB9-9A55-140669A3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08" y="316382"/>
            <a:ext cx="10864157" cy="383017"/>
          </a:xfrm>
        </p:spPr>
        <p:txBody>
          <a:bodyPr>
            <a:noAutofit/>
          </a:bodyPr>
          <a:lstStyle/>
          <a:p>
            <a:r>
              <a:rPr lang="en-US" sz="2800" b="1" dirty="0"/>
              <a:t>Frequency vs Quantity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9E98B-53DB-4D1F-BD46-87E2BFEA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CF9D-0E07-496A-8CD7-EC74352B8FF2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F1674-D208-9B83-560E-44E8CA9F39AC}"/>
              </a:ext>
            </a:extLst>
          </p:cNvPr>
          <p:cNvGrpSpPr/>
          <p:nvPr/>
        </p:nvGrpSpPr>
        <p:grpSpPr>
          <a:xfrm>
            <a:off x="8637006" y="1013988"/>
            <a:ext cx="3177766" cy="4278094"/>
            <a:chOff x="8637006" y="1013988"/>
            <a:chExt cx="3177766" cy="42780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263C3D-6FA5-9B0A-8A32-5025013F1057}"/>
                </a:ext>
              </a:extLst>
            </p:cNvPr>
            <p:cNvSpPr txBox="1"/>
            <p:nvPr/>
          </p:nvSpPr>
          <p:spPr>
            <a:xfrm>
              <a:off x="8637006" y="1013988"/>
              <a:ext cx="3177766" cy="24622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600"/>
                </a:spcAft>
                <a:buSzPct val="100000"/>
              </a:pPr>
              <a:r>
                <a:rPr lang="en-CA" sz="1600" b="1" dirty="0">
                  <a:solidFill>
                    <a:schemeClr val="bg1"/>
                  </a:solidFill>
                </a:rPr>
                <a:t>Key Insights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368E75-4EE3-F31E-9137-97B8C09C9927}"/>
                </a:ext>
              </a:extLst>
            </p:cNvPr>
            <p:cNvSpPr txBox="1"/>
            <p:nvPr/>
          </p:nvSpPr>
          <p:spPr>
            <a:xfrm>
              <a:off x="8637006" y="1260209"/>
              <a:ext cx="3177766" cy="403187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b="1" dirty="0"/>
                <a:t>Family Bread and La Sien Premium Water 75CL are high-frequency, high-volume products, making them star products.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b="1" dirty="0"/>
                <a:t>Some products have high quantities but lower purchase frequency, indicating bulk purchases.</a:t>
              </a:r>
            </a:p>
            <a:p>
              <a:pPr marL="285750" indent="-285750">
                <a:lnSpc>
                  <a:spcPct val="100000"/>
                </a:lnSpc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en-US" b="1" dirty="0"/>
                <a:t>Products in the lower-left quadrant show weak performance and may require promotion or review.</a:t>
              </a:r>
              <a:endParaRPr lang="en-CA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F08D1C7-DD77-F1E0-6BC2-0B038C011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08" y="1013988"/>
            <a:ext cx="7764116" cy="447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4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28B5-2CB7-4AB9-9A55-140669A3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08" y="333677"/>
            <a:ext cx="10864157" cy="383017"/>
          </a:xfrm>
        </p:spPr>
        <p:txBody>
          <a:bodyPr>
            <a:noAutofit/>
          </a:bodyPr>
          <a:lstStyle/>
          <a:p>
            <a:r>
              <a:rPr lang="en-US" sz="2800" b="1" dirty="0"/>
              <a:t>Recommendations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9E98B-53DB-4D1F-BD46-87E2BFEA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CF9D-0E07-496A-8CD7-EC74352B8FF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7E16B-F751-378F-6AB0-D4213D02568D}"/>
              </a:ext>
            </a:extLst>
          </p:cNvPr>
          <p:cNvSpPr txBox="1"/>
          <p:nvPr/>
        </p:nvSpPr>
        <p:spPr>
          <a:xfrm>
            <a:off x="543208" y="814812"/>
            <a:ext cx="104748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CA" sz="1400" b="1" dirty="0"/>
              <a:t>Based on my detailed analysis of the </a:t>
            </a:r>
            <a:r>
              <a:rPr lang="en-US" sz="1400" b="1" dirty="0">
                <a:latin typeface="Georgia"/>
                <a:sym typeface="Georgia"/>
              </a:rPr>
              <a:t>r</a:t>
            </a:r>
            <a:r>
              <a:rPr lang="en-US" sz="1400" b="1" dirty="0">
                <a:latin typeface="Georgia"/>
                <a:ea typeface="Georgia"/>
                <a:cs typeface="Georgia"/>
                <a:sym typeface="Georgia"/>
              </a:rPr>
              <a:t>etail sales performance </a:t>
            </a:r>
            <a:r>
              <a:rPr lang="en-CA" sz="1400" b="1" dirty="0"/>
              <a:t>, my recommendations are presented below: 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04DEEE-4C71-1793-EE5B-7DB1A359ECF6}"/>
              </a:ext>
            </a:extLst>
          </p:cNvPr>
          <p:cNvGrpSpPr/>
          <p:nvPr/>
        </p:nvGrpSpPr>
        <p:grpSpPr>
          <a:xfrm>
            <a:off x="543207" y="1488239"/>
            <a:ext cx="10864157" cy="3293429"/>
            <a:chOff x="656376" y="1488240"/>
            <a:chExt cx="10253050" cy="273298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854BB81-8FDD-F6C5-EF4D-2FBE44C0A1F4}"/>
                </a:ext>
              </a:extLst>
            </p:cNvPr>
            <p:cNvGrpSpPr/>
            <p:nvPr/>
          </p:nvGrpSpPr>
          <p:grpSpPr>
            <a:xfrm>
              <a:off x="660905" y="1488240"/>
              <a:ext cx="10248521" cy="588476"/>
              <a:chOff x="660905" y="1488240"/>
              <a:chExt cx="10248521" cy="58847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0572A56-FCDC-75F0-63EB-D6F06E04B916}"/>
                  </a:ext>
                </a:extLst>
              </p:cNvPr>
              <p:cNvSpPr/>
              <p:nvPr/>
            </p:nvSpPr>
            <p:spPr>
              <a:xfrm>
                <a:off x="660905" y="1488240"/>
                <a:ext cx="543208" cy="5884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CA" sz="2000" dirty="0"/>
                  <a:t>1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1500BAA-7CEB-0AD1-5E12-E4AE3E7FE60C}"/>
                  </a:ext>
                </a:extLst>
              </p:cNvPr>
              <p:cNvSpPr/>
              <p:nvPr/>
            </p:nvSpPr>
            <p:spPr>
              <a:xfrm>
                <a:off x="1204113" y="1488240"/>
                <a:ext cx="9705313" cy="588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solidFill>
                      <a:schemeClr val="tx1"/>
                    </a:solidFill>
                  </a:rPr>
                  <a:t>Maintain adequate stock levels for Family Bread and La Sien Premium Water products.</a:t>
                </a:r>
              </a:p>
              <a:p>
                <a:pPr>
                  <a:lnSpc>
                    <a:spcPct val="100000"/>
                  </a:lnSpc>
                </a:pPr>
                <a:endParaRPr lang="en-CA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615E5B9-CD05-E79E-3491-84598510DA48}"/>
                </a:ext>
              </a:extLst>
            </p:cNvPr>
            <p:cNvGrpSpPr/>
            <p:nvPr/>
          </p:nvGrpSpPr>
          <p:grpSpPr>
            <a:xfrm>
              <a:off x="660905" y="2203463"/>
              <a:ext cx="10248521" cy="588477"/>
              <a:chOff x="660905" y="1488240"/>
              <a:chExt cx="10248521" cy="58847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0C2E961-B576-D3EE-4EE9-DCCF5843B7C3}"/>
                  </a:ext>
                </a:extLst>
              </p:cNvPr>
              <p:cNvSpPr/>
              <p:nvPr/>
            </p:nvSpPr>
            <p:spPr>
              <a:xfrm>
                <a:off x="660905" y="1488240"/>
                <a:ext cx="543208" cy="5884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CA" sz="2000" dirty="0"/>
                  <a:t>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A0BAE1C-2FE4-F44F-9AA4-67C219F6D5BC}"/>
                  </a:ext>
                </a:extLst>
              </p:cNvPr>
              <p:cNvSpPr/>
              <p:nvPr/>
            </p:nvSpPr>
            <p:spPr>
              <a:xfrm>
                <a:off x="1204113" y="1502491"/>
                <a:ext cx="9705313" cy="5742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>
                    <a:solidFill>
                      <a:schemeClr val="tx1"/>
                    </a:solidFill>
                  </a:rPr>
                  <a:t>Increase marketing efforts for low-performing products.</a:t>
                </a:r>
              </a:p>
              <a:p>
                <a:pPr>
                  <a:lnSpc>
                    <a:spcPct val="100000"/>
                  </a:lnSpc>
                </a:pPr>
                <a:endParaRPr lang="en-CA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D1EF0EC-33DD-1A31-732B-1D79FA6A130D}"/>
                </a:ext>
              </a:extLst>
            </p:cNvPr>
            <p:cNvGrpSpPr/>
            <p:nvPr/>
          </p:nvGrpSpPr>
          <p:grpSpPr>
            <a:xfrm>
              <a:off x="656376" y="2913002"/>
              <a:ext cx="10248521" cy="588476"/>
              <a:chOff x="660905" y="1488240"/>
              <a:chExt cx="10248521" cy="58847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A9D1692-B439-03E9-1DEE-35913F7F173A}"/>
                  </a:ext>
                </a:extLst>
              </p:cNvPr>
              <p:cNvSpPr/>
              <p:nvPr/>
            </p:nvSpPr>
            <p:spPr>
              <a:xfrm>
                <a:off x="660905" y="1488240"/>
                <a:ext cx="543208" cy="5884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CA" sz="2000" dirty="0"/>
                  <a:t>3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C6DB5EF-33CD-F2A2-D78E-3B48206C9D90}"/>
                  </a:ext>
                </a:extLst>
              </p:cNvPr>
              <p:cNvSpPr/>
              <p:nvPr/>
            </p:nvSpPr>
            <p:spPr>
              <a:xfrm>
                <a:off x="1204113" y="1488240"/>
                <a:ext cx="9705313" cy="588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0000"/>
                  </a:lnSpc>
                </a:pPr>
                <a:endParaRPr lang="en-CA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38F0E4D-5EB6-0EFF-6A11-4132A8C6E658}"/>
                </a:ext>
              </a:extLst>
            </p:cNvPr>
            <p:cNvGrpSpPr/>
            <p:nvPr/>
          </p:nvGrpSpPr>
          <p:grpSpPr>
            <a:xfrm>
              <a:off x="656376" y="3632752"/>
              <a:ext cx="10248521" cy="588476"/>
              <a:chOff x="660905" y="1488240"/>
              <a:chExt cx="10248521" cy="588476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562D00D-5B19-41D0-00C3-954F8B200E46}"/>
                  </a:ext>
                </a:extLst>
              </p:cNvPr>
              <p:cNvSpPr/>
              <p:nvPr/>
            </p:nvSpPr>
            <p:spPr>
              <a:xfrm>
                <a:off x="660905" y="1488240"/>
                <a:ext cx="543208" cy="5884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CA" sz="2000" dirty="0"/>
                  <a:t>4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78CE05C-B9B0-0211-0CFD-C512EE40340C}"/>
                  </a:ext>
                </a:extLst>
              </p:cNvPr>
              <p:cNvSpPr/>
              <p:nvPr/>
            </p:nvSpPr>
            <p:spPr>
              <a:xfrm>
                <a:off x="1204113" y="1488240"/>
                <a:ext cx="9705313" cy="588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0000"/>
                  </a:lnSpc>
                </a:pPr>
                <a:endParaRPr lang="en-CA" sz="12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255CA3-EF44-9833-4C0E-2166F2597F1A}"/>
              </a:ext>
            </a:extLst>
          </p:cNvPr>
          <p:cNvSpPr txBox="1"/>
          <p:nvPr/>
        </p:nvSpPr>
        <p:spPr>
          <a:xfrm>
            <a:off x="1118792" y="3205170"/>
            <a:ext cx="10235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Review products with low frequency and low quantity for possible replacement or promotional campaigns.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5E0EA-F912-8B34-55F5-973BB842D66F}"/>
              </a:ext>
            </a:extLst>
          </p:cNvPr>
          <p:cNvSpPr txBox="1"/>
          <p:nvPr/>
        </p:nvSpPr>
        <p:spPr>
          <a:xfrm>
            <a:off x="1118792" y="4242426"/>
            <a:ext cx="8475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Expand high-performing beverage and bakery product lines.</a:t>
            </a:r>
          </a:p>
        </p:txBody>
      </p:sp>
    </p:spTree>
    <p:extLst>
      <p:ext uri="{BB962C8B-B14F-4D97-AF65-F5344CB8AC3E}">
        <p14:creationId xmlns:p14="http://schemas.microsoft.com/office/powerpoint/2010/main" val="327689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7132D2E-8A1C-4D25-6D14-2B203A8E9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49202" y="1729212"/>
            <a:ext cx="5559826" cy="263455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9A09E98B-53DB-4D1F-BD46-87E2BFEA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BC0CF9D-0E07-496A-8CD7-EC74352B8FF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1D772A-1E82-8EA6-F56B-7CE54CF9B734}"/>
              </a:ext>
            </a:extLst>
          </p:cNvPr>
          <p:cNvCxnSpPr/>
          <p:nvPr/>
        </p:nvCxnSpPr>
        <p:spPr>
          <a:xfrm>
            <a:off x="6278345" y="1430862"/>
            <a:ext cx="0" cy="4191000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8F692613-29FB-7961-C3EC-857DFFBC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447663" y="1848253"/>
            <a:ext cx="5559826" cy="239647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CAC7F9B-CC74-2C80-4A3F-058421FD2792}"/>
              </a:ext>
            </a:extLst>
          </p:cNvPr>
          <p:cNvSpPr txBox="1">
            <a:spLocks/>
          </p:cNvSpPr>
          <p:nvPr/>
        </p:nvSpPr>
        <p:spPr>
          <a:xfrm>
            <a:off x="10136696" y="6644640"/>
            <a:ext cx="1764792" cy="1371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7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C0CF9D-0E07-496A-8CD7-EC74352B8FF2}" type="slidenum">
              <a:rPr lang="en-CA" smtClean="0"/>
              <a:pPr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21657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1619,22,Course Overview (Day 3)                                   2 of 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PwC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wC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/>
      <a:lstStyle>
        <a:defPPr marL="182880" indent="-182880">
          <a:lnSpc>
            <a:spcPct val="100000"/>
          </a:lnSpc>
          <a:spcAft>
            <a:spcPts val="600"/>
          </a:spcAft>
          <a:buSzPct val="100000"/>
          <a:buFont typeface="Arial"/>
          <a:buChar char="•"/>
          <a:defRPr sz="160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</a:custClrLst>
</a:theme>
</file>

<file path=ppt/theme/theme3.xml><?xml version="1.0" encoding="utf-8"?>
<a:theme xmlns:a="http://schemas.openxmlformats.org/drawingml/2006/main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PwC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wC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/>
      <a:lstStyle>
        <a:defPPr marL="182880" indent="-182880">
          <a:lnSpc>
            <a:spcPct val="100000"/>
          </a:lnSpc>
          <a:spcAft>
            <a:spcPts val="600"/>
          </a:spcAft>
          <a:buSzPct val="100000"/>
          <a:buFont typeface="Arial"/>
          <a:buChar char="•"/>
          <a:defRPr sz="1600"/>
        </a:defPPr>
      </a:lstStyle>
    </a:txDef>
  </a:objectDefaults>
  <a:extraClrSchemeLst/>
  <a:custClrLst>
    <a:custClr name="Dark Orange 2">
      <a:srgbClr val="571F01"/>
    </a:custClr>
    <a:custClr name="Dark Orange 1">
      <a:srgbClr val="933401"/>
    </a:custClr>
    <a:custClr name="Primary Orange">
      <a:srgbClr val="D04A02"/>
    </a:custClr>
    <a:custClr name="Light Orange 1">
      <a:srgbClr val="FD6412"/>
    </a:custClr>
    <a:custClr name="Light Orange 2">
      <a:srgbClr val="FEB791"/>
    </a:custClr>
    <a:custClr name="Dark Tangerine 2">
      <a:srgbClr val="714300"/>
    </a:custClr>
    <a:custClr name="Dark Tangerine 1">
      <a:srgbClr val="AE6800"/>
    </a:custClr>
    <a:custClr name="Primary Tangerine">
      <a:srgbClr val="EB8C00"/>
    </a:custClr>
    <a:custClr name="Light Tangerine 1">
      <a:srgbClr val="FFA929"/>
    </a:custClr>
    <a:custClr name="Light Tangerine 2">
      <a:srgbClr val="FFDCA9"/>
    </a:custClr>
    <a:custClr name="Dark Yellow 2">
      <a:srgbClr val="855F00"/>
    </a:custClr>
    <a:custClr name="Dark Yellow 1">
      <a:srgbClr val="C28A00"/>
    </a:custClr>
    <a:custClr name="Primary Yellow">
      <a:srgbClr val="FFB600"/>
    </a:custClr>
    <a:custClr name="Light Yellow 1">
      <a:srgbClr val="FFC83D"/>
    </a:custClr>
    <a:custClr name="Light Yellow 2">
      <a:srgbClr val="FFECBD"/>
    </a:custClr>
    <a:custClr name="Dark Rose 2">
      <a:srgbClr val="6E2A35"/>
    </a:custClr>
    <a:custClr name="Dark Rose 1">
      <a:srgbClr val="A43E50"/>
    </a:custClr>
    <a:custClr name="Primary Rose">
      <a:srgbClr val="DB536A"/>
    </a:custClr>
    <a:custClr name="Light Rose 1">
      <a:srgbClr val="E27588"/>
    </a:custClr>
    <a:custClr name="Light Rose 2">
      <a:srgbClr val="F1BAC3"/>
    </a:custClr>
    <a:custClr name="Dark Red 2">
      <a:srgbClr val="741910"/>
    </a:custClr>
    <a:custClr name="Dark Red 1">
      <a:srgbClr val="AA2417"/>
    </a:custClr>
    <a:custClr name="Primary Red">
      <a:srgbClr val="E0301E"/>
    </a:custClr>
    <a:custClr name="Light Red 1">
      <a:srgbClr val="E86153"/>
    </a:custClr>
    <a:custClr name="Light Red 2">
      <a:srgbClr val="F7C8C4"/>
    </a:custClr>
    <a:custClr name="Black">
      <a:srgbClr val="000000"/>
    </a:custClr>
    <a:custClr name="Dark Grey">
      <a:srgbClr val="2D2D2D"/>
    </a:custClr>
    <a:custClr name="Medium Grey">
      <a:srgbClr val="464646"/>
    </a:custClr>
    <a:custClr name="Grey">
      <a:srgbClr val="7D7D7D"/>
    </a:custClr>
    <a:custClr name="Light Grey">
      <a:srgbClr val="DEDEDE"/>
    </a:custClr>
    <a:custClr name="Dark Purple 2">
      <a:srgbClr val="4B06B2"/>
    </a:custClr>
    <a:custClr name="Dark Purple 1">
      <a:srgbClr val="6A1CE2"/>
    </a:custClr>
    <a:custClr name="Secondary Purple">
      <a:srgbClr val="9013FE"/>
    </a:custClr>
    <a:custClr name="Light Purple 1">
      <a:srgbClr val="B15AFE"/>
    </a:custClr>
    <a:custClr name="Light Purple 2">
      <a:srgbClr val="DEB8FF"/>
    </a:custClr>
    <a:custClr name="Dark Blue 2">
      <a:srgbClr val="003DAB"/>
    </a:custClr>
    <a:custClr name="Dark Blue 1">
      <a:srgbClr val="0060D7"/>
    </a:custClr>
    <a:custClr name="Secondary Blue">
      <a:srgbClr val="0089EB"/>
    </a:custClr>
    <a:custClr name="Light Blue 1">
      <a:srgbClr val="4DACF1"/>
    </a:custClr>
    <a:custClr name="Light Blue 2">
      <a:srgbClr val="B3DCF9"/>
    </a:custClr>
    <a:custClr name="Dark Green 2">
      <a:srgbClr val="175C2C"/>
    </a:custClr>
    <a:custClr name="Dark Green 1">
      <a:srgbClr val="2C8646"/>
    </a:custClr>
    <a:custClr name="Secondary Green">
      <a:srgbClr val="4EB523"/>
    </a:custClr>
    <a:custClr name="Light Green 1">
      <a:srgbClr val="86DB4F"/>
    </a:custClr>
    <a:custClr name="Light Green 2">
      <a:srgbClr val="C4FC9F"/>
    </a:custClr>
    <a:custClr name="Status Red">
      <a:srgbClr val="E0301E"/>
    </a:custClr>
    <a:custClr name="Status Yellow">
      <a:srgbClr val="FFB600"/>
    </a:custClr>
    <a:custClr name="Status Green">
      <a:srgbClr val="175C2C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25325</TotalTime>
  <Words>253</Words>
  <Application>Microsoft Office PowerPoint</Application>
  <PresentationFormat>Widescreen</PresentationFormat>
  <Paragraphs>43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Wingdings</vt:lpstr>
      <vt:lpstr>Office Theme</vt:lpstr>
      <vt:lpstr>PowerPoint Presentation</vt:lpstr>
      <vt:lpstr>Report Overview- Dashboard</vt:lpstr>
      <vt:lpstr>Top Products by Quantity</vt:lpstr>
      <vt:lpstr>⁠Top Products by Frequency</vt:lpstr>
      <vt:lpstr>Frequency vs Quantity Analysis</vt:lpstr>
      <vt:lpstr>Recommendations</vt:lpstr>
      <vt:lpstr>PowerPoint Presentation</vt:lpstr>
    </vt:vector>
  </TitlesOfParts>
  <Manager/>
  <Company>PwC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ULI4 Stream 1 Technical Leadership Report</dc:title>
  <dc:subject/>
  <dc:creator>Daniel Edheredino</dc:creator>
  <cp:keywords/>
  <dc:description/>
  <cp:lastModifiedBy>blizzy</cp:lastModifiedBy>
  <cp:revision>891</cp:revision>
  <dcterms:created xsi:type="dcterms:W3CDTF">2022-02-02T18:59:29Z</dcterms:created>
  <dcterms:modified xsi:type="dcterms:W3CDTF">2026-06-30T14:46:59Z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type">
    <vt:lpwstr>PwC16x9</vt:lpwstr>
  </property>
  <property fmtid="{D5CDD505-2E9C-101B-9397-08002B2CF9AE}" pid="3" name="TB template version">
    <vt:lpwstr>6</vt:lpwstr>
  </property>
  <property fmtid="{D5CDD505-2E9C-101B-9397-08002B2CF9AE}" pid="4" name="TB template release">
    <vt:lpwstr>4</vt:lpwstr>
  </property>
</Properties>
</file>